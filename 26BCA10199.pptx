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Arial Black" panose="020B0A04020102020204" pitchFamily="34" charset="0"/>
      <p:bold r:id="rId14"/>
    </p:embeddedFont>
    <p:embeddedFont>
      <p:font typeface="Host Grotesk" panose="020B0604020202020204" charset="0"/>
      <p:regular r:id="rId15"/>
    </p:embeddedFont>
    <p:embeddedFont>
      <p:font typeface="Host Grotesk Bold" panose="020B0604020202020204" charset="0"/>
      <p:regular r:id="rId16"/>
    </p:embeddedFont>
    <p:embeddedFont>
      <p:font typeface="Host Grotesk Light" panose="020B0604020202020204" charset="0"/>
      <p:regular r:id="rId17"/>
    </p:embeddedFont>
    <p:embeddedFont>
      <p:font typeface="Host Grotesk Medium" panose="020B0604020202020204" charset="0"/>
      <p:regular r:id="rId18"/>
    </p:embeddedFont>
    <p:embeddedFont>
      <p:font typeface="Host Grotesk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m dubey" userId="32e5f89eaa3bac23" providerId="LiveId" clId="{146BBE6E-D7A9-4554-A068-08422D95F220}"/>
    <pc:docChg chg="modSld">
      <pc:chgData name="shivam dubey" userId="32e5f89eaa3bac23" providerId="LiveId" clId="{146BBE6E-D7A9-4554-A068-08422D95F220}" dt="2026-10-27T20:40:45.228" v="3" actId="20577"/>
      <pc:docMkLst>
        <pc:docMk/>
      </pc:docMkLst>
      <pc:sldChg chg="modSp mod">
        <pc:chgData name="shivam dubey" userId="32e5f89eaa3bac23" providerId="LiveId" clId="{146BBE6E-D7A9-4554-A068-08422D95F220}" dt="2026-10-27T20:40:45.228" v="3" actId="20577"/>
        <pc:sldMkLst>
          <pc:docMk/>
          <pc:sldMk cId="0" sldId="256"/>
        </pc:sldMkLst>
        <pc:spChg chg="mod">
          <ac:chgData name="shivam dubey" userId="32e5f89eaa3bac23" providerId="LiveId" clId="{146BBE6E-D7A9-4554-A068-08422D95F220}" dt="2026-10-27T20:40:45.228" v="3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490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619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619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11200"/>
            <a:ext cx="1117572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100" spc="11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FINANCIAL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780" y="1138579"/>
            <a:ext cx="10566136" cy="1042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0" kern="100" spc="-76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TATA MOTORS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812780" y="2319973"/>
            <a:ext cx="1056613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A comparative study of FY 2023–24 and FY 2024–25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780" y="2839045"/>
            <a:ext cx="10566036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5218509"/>
            <a:ext cx="10769316" cy="749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64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Prepared by: Kishu Kumar Singh &amp; </a:t>
            </a:r>
            <a:r>
              <a:rPr lang="en-US" sz="6400" dirty="0" err="1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Gurpalakpreet</a:t>
            </a:r>
            <a:r>
              <a:rPr lang="en-US" sz="64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 Kaur</a:t>
            </a:r>
          </a:p>
          <a:p>
            <a:pPr marL="0" indent="0" algn="l">
              <a:lnSpc>
                <a:spcPct val="129000"/>
              </a:lnSpc>
              <a:buNone/>
            </a:pPr>
            <a:endParaRPr lang="en-US" sz="64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 </a:t>
            </a:r>
            <a:r>
              <a:rPr lang="en-US" sz="5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Chandigarh University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12780" y="6024959"/>
            <a:ext cx="11175720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3" name="Text 1"/>
          <p:cNvSpPr/>
          <p:nvPr/>
        </p:nvSpPr>
        <p:spPr>
          <a:xfrm>
            <a:off x="253994" y="605854"/>
            <a:ext cx="1930352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02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946326" y="585470"/>
            <a:ext cx="8635784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100" spc="-15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Project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946326" y="1269603"/>
            <a:ext cx="8635784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946326" y="1544241"/>
            <a:ext cx="924536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100" spc="11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PURPOSE, SCOPE AND APPROACH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46326" y="2087761"/>
            <a:ext cx="723882" cy="723900"/>
          </a:xfrm>
          <a:prstGeom prst="ellipse">
            <a:avLst/>
          </a:prstGeom>
          <a:solidFill>
            <a:srgbClr val="7D817E"/>
          </a:solidFill>
          <a:ln w="19050">
            <a:solidFill>
              <a:srgbClr val="4E51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0623" y="2259211"/>
            <a:ext cx="110487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48004" y="2379861"/>
            <a:ext cx="77341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Study Tata Motors’ consolidated financial performance over two financial years.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46326" y="3091061"/>
            <a:ext cx="723882" cy="723900"/>
          </a:xfrm>
          <a:prstGeom prst="ellipse">
            <a:avLst/>
          </a:prstGeom>
          <a:solidFill>
            <a:srgbClr val="7D817E"/>
          </a:solidFill>
          <a:ln w="19050">
            <a:solidFill>
              <a:srgbClr val="4E51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0623" y="3262511"/>
            <a:ext cx="110487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48004" y="3383161"/>
            <a:ext cx="77341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Analyse revenue, profit, liquidity, leverage and cash generation.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946326" y="4094361"/>
            <a:ext cx="723882" cy="723900"/>
          </a:xfrm>
          <a:prstGeom prst="ellipse">
            <a:avLst/>
          </a:prstGeom>
          <a:solidFill>
            <a:srgbClr val="7D817E"/>
          </a:solidFill>
          <a:ln w="19050">
            <a:solidFill>
              <a:srgbClr val="4E51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0623" y="4265811"/>
            <a:ext cx="110487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848004" y="4386461"/>
            <a:ext cx="773410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Use Microsoft Excel for calculations and charts, Word for the report, and PowerPoint to communicate findings.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946326" y="5256411"/>
            <a:ext cx="723882" cy="723900"/>
          </a:xfrm>
          <a:prstGeom prst="ellipse">
            <a:avLst/>
          </a:prstGeom>
          <a:solidFill>
            <a:srgbClr val="7D817E"/>
          </a:solidFill>
          <a:ln w="19050">
            <a:solidFill>
              <a:srgbClr val="4E51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0623" y="5427861"/>
            <a:ext cx="110487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848004" y="5548511"/>
            <a:ext cx="77341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Primary source: Tata Motors Integrated Annual Report 2024–25.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46326" y="2945011"/>
            <a:ext cx="8635784" cy="12700"/>
          </a:xfrm>
          <a:prstGeom prst="rect">
            <a:avLst/>
          </a:prstGeom>
          <a:solidFill>
            <a:srgbClr val="E7E3DA">
              <a:alpha val="2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946326" y="3948311"/>
            <a:ext cx="8635784" cy="12700"/>
          </a:xfrm>
          <a:prstGeom prst="rect">
            <a:avLst/>
          </a:prstGeom>
          <a:solidFill>
            <a:srgbClr val="E7E3DA">
              <a:alpha val="2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946326" y="5110361"/>
            <a:ext cx="8635784" cy="12700"/>
          </a:xfrm>
          <a:prstGeom prst="rect">
            <a:avLst/>
          </a:prstGeom>
          <a:solidFill>
            <a:srgbClr val="E7E3DA">
              <a:alpha val="2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34670"/>
            <a:ext cx="6527637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100" spc="-15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Company Profile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58786" y="1218803"/>
            <a:ext cx="6527537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1493441"/>
            <a:ext cx="6959426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100" spc="11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A MAJOR INDIAN AUTOMOTIVE BUSINESS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8786" y="1922661"/>
            <a:ext cx="652763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Tata Motors has served passenger and commercial mobility markets in India and internationally.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8786" y="2837061"/>
            <a:ext cx="652763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Its portfolio has included passenger vehicles, commercial vehicles and international operations through Jaguar Land Rover.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8786" y="3751461"/>
            <a:ext cx="652763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The automotive sector is capital-intensive and sensitive to demand, costs, product mix, technology and regulation.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8786" y="4665861"/>
            <a:ext cx="652763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Financial analysis helps assess growth, profitability, liquidity and the capacity to fund future investment.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212" y="0"/>
            <a:ext cx="4673483" cy="6858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0594" y="6449814"/>
            <a:ext cx="78301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09270"/>
            <a:ext cx="11074123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100" spc="-15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Financial Snapshot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58786" y="1193403"/>
            <a:ext cx="11074123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1468041"/>
            <a:ext cx="1163290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100" spc="11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CONSOLIDATED FIGURES, ₹ CRORE UNLESS STATED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58786" y="1935361"/>
            <a:ext cx="5460863" cy="1725811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146499"/>
            <a:ext cx="5003675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kern="100" spc="-46" dirty="0">
                <a:solidFill>
                  <a:srgbClr val="25292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₹4,39,695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87380" y="2812296"/>
            <a:ext cx="500367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FY25 Revenue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7380" y="3285331"/>
            <a:ext cx="5232269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100" spc="22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+1.3% vs FY24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046" y="1935361"/>
            <a:ext cx="5460863" cy="1725811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046" y="1935361"/>
            <a:ext cx="5460863" cy="2540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640" y="2171899"/>
            <a:ext cx="5003675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kern="100" spc="-46" dirty="0">
                <a:solidFill>
                  <a:srgbClr val="25292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₹28,149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400640" y="2837696"/>
            <a:ext cx="500367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FY25 Profit for Year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640" y="3310731"/>
            <a:ext cx="5232269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100" spc="22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vs ₹31,807 crore in FY24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8786" y="3813572"/>
            <a:ext cx="5460863" cy="1725811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15" name="Text 13"/>
          <p:cNvSpPr/>
          <p:nvPr/>
        </p:nvSpPr>
        <p:spPr>
          <a:xfrm>
            <a:off x="787380" y="4024709"/>
            <a:ext cx="5003675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kern="100" spc="-46" dirty="0">
                <a:solidFill>
                  <a:srgbClr val="25292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13.1%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787380" y="4690507"/>
            <a:ext cx="500367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Underlying EBITDA Margin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87380" y="5163542"/>
            <a:ext cx="5232269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100" spc="22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vs 14.1% in FY24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046" y="3813572"/>
            <a:ext cx="5460863" cy="1725811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640" y="4024709"/>
            <a:ext cx="5003675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kern="100" spc="-46" dirty="0">
                <a:solidFill>
                  <a:srgbClr val="25292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₹22,348 cr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400640" y="4690507"/>
            <a:ext cx="500367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Auto Free Cash Flow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640" y="5163542"/>
            <a:ext cx="5232269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100" spc="22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Positive in FY25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8786" y="5755283"/>
            <a:ext cx="660383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750" b="1" dirty="0">
                <a:solidFill>
                  <a:srgbClr val="E7E3D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0"/>
              </a:rPr>
              <a:t>Key message: revenue grew modestly, while profit and underlying EBITDA margin declined. Cash generation remained positive.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58470"/>
            <a:ext cx="1112492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100" spc="-15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Revenue and Profit Trend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3387" y="1142603"/>
            <a:ext cx="11124922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387" y="1417241"/>
            <a:ext cx="1165830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100" spc="11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FY24 COMPARED WITH FY25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87" y="1821061"/>
          <a:ext cx="11201022" cy="1819727"/>
        </p:xfrm>
        <a:graphic>
          <a:graphicData uri="http://schemas.openxmlformats.org/drawingml/2006/table">
            <a:tbl>
              <a:tblPr/>
              <a:tblGrid>
                <a:gridCol w="3246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5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41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110" dirty="0">
                          <a:solidFill>
                            <a:srgbClr val="A4A6A2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INDICATOR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110" dirty="0">
                          <a:solidFill>
                            <a:srgbClr val="A4A6A2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FY 2023–24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110" dirty="0">
                          <a:solidFill>
                            <a:srgbClr val="A4A6A2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FY 2024–25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110" dirty="0">
                          <a:solidFill>
                            <a:srgbClr val="A4A6A2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CHANGE / DIRECTION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Revenue from operations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434,016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439,695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↑ 1.3%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Operating profit (reported highlight)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68,831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65,848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↓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Profit before tax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28,429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33,780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↑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Profit for the year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31,807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28,149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↓ 11.5%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0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Finance cost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7,642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4,999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↓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33387" y="3818632"/>
            <a:ext cx="660383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Interpretation: stronger PBT did not translate into higher profit for the year; tax and other items also affect final profit.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58470"/>
            <a:ext cx="1112492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100" spc="-15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Profitability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3387" y="1142603"/>
            <a:ext cx="11124922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387" y="1417241"/>
            <a:ext cx="1165830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100" spc="11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MARGINS INDICATE PRESSURE ON UNDERLYING PERFORMANCE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87" y="1821061"/>
          <a:ext cx="11124921" cy="1522574"/>
        </p:xfrm>
        <a:graphic>
          <a:graphicData uri="http://schemas.openxmlformats.org/drawingml/2006/table">
            <a:tbl>
              <a:tblPr/>
              <a:tblGrid>
                <a:gridCol w="3003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3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1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110" dirty="0">
                          <a:solidFill>
                            <a:srgbClr val="A4A6A2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MEASURE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110" dirty="0">
                          <a:solidFill>
                            <a:srgbClr val="A4A6A2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FY24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110" dirty="0">
                          <a:solidFill>
                            <a:srgbClr val="A4A6A2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FY25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110" dirty="0">
                          <a:solidFill>
                            <a:srgbClr val="A4A6A2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WHAT IT SUGGESTS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Revenue growth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—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1.3%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Modest top-line growth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Operating profit / revenue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15.86%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14.98%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Reported margin declined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Profit for year / revenue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7.33%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6.40%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Lower net margin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0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Underlying EBITDA margin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14.1%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13.1%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Down 1.0 percentage point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3387" y="3572272"/>
            <a:ext cx="11124922" cy="827088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5" name="Shape 4"/>
          <p:cNvSpPr/>
          <p:nvPr/>
        </p:nvSpPr>
        <p:spPr>
          <a:xfrm>
            <a:off x="533387" y="3572272"/>
            <a:ext cx="11124922" cy="2540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8" name="Text 5"/>
          <p:cNvSpPr/>
          <p:nvPr/>
        </p:nvSpPr>
        <p:spPr>
          <a:xfrm>
            <a:off x="838179" y="3826272"/>
            <a:ext cx="10820129" cy="34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750" b="1" dirty="0">
                <a:solidFill>
                  <a:srgbClr val="25292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0"/>
              </a:rPr>
              <a:t>Focus area: cost discipline, product mix, productivity and sustained demand.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58470"/>
            <a:ext cx="1112492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100" spc="-15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Liquidity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3387" y="1142603"/>
            <a:ext cx="11124922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387" y="1417241"/>
            <a:ext cx="1165830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100" spc="11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ABILITY TO COVER SHORT-TERM OBLIGATIONS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87" y="1821061"/>
          <a:ext cx="11124921" cy="1522574"/>
        </p:xfrm>
        <a:graphic>
          <a:graphicData uri="http://schemas.openxmlformats.org/drawingml/2006/table">
            <a:tbl>
              <a:tblPr/>
              <a:tblGrid>
                <a:gridCol w="3226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1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1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110" dirty="0">
                          <a:solidFill>
                            <a:srgbClr val="A4A6A2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INDICATOR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110" dirty="0">
                          <a:solidFill>
                            <a:srgbClr val="A4A6A2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FY24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110" dirty="0">
                          <a:solidFill>
                            <a:srgbClr val="A4A6A2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FY25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110" dirty="0">
                          <a:solidFill>
                            <a:srgbClr val="A4A6A2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INTERPRETATION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Current assets (₹ crore)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167,718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159,811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Decreased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Current liabilities (₹ crore)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173,616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166,684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Decreased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Current ratio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0.97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0.96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Below 1 in both years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38099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0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Quick ratio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0.69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0.68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7E3D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0"/>
                        </a:rPr>
                        <a:t>Below 1 after excluding inventory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14297" marB="38099" anchor="ctr">
                    <a:lnL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9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3387" y="3572272"/>
            <a:ext cx="11124922" cy="1146175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7" name="Text 4"/>
          <p:cNvSpPr/>
          <p:nvPr/>
        </p:nvSpPr>
        <p:spPr>
          <a:xfrm>
            <a:off x="838179" y="3800872"/>
            <a:ext cx="10515337" cy="688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75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A large automotive group may operate with substantial supplier credit, but working capital should be monitored carefully.</a:t>
            </a:r>
            <a:endParaRPr lang="en-US" sz="1750" dirty="0"/>
          </a:p>
        </p:txBody>
      </p:sp>
      <p:sp>
        <p:nvSpPr>
          <p:cNvPr id="5" name="Text 5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627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100" spc="-15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Solvency and Cash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2040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595041"/>
            <a:ext cx="1158211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100" spc="11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LEVERAGE INDICATORS IMPROVED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585" y="2291596"/>
            <a:ext cx="53338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7E3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Total liabilities-to-equity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2764631"/>
            <a:ext cx="53338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declined from about 2.98x in FY24 to 2.08x in FY25.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48244" y="2291596"/>
            <a:ext cx="53338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7E3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Automotive debt/equity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48244" y="2764631"/>
            <a:ext cx="53338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improved from 0.9x to 0.6x.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585" y="3593306"/>
            <a:ext cx="5333867" cy="1546820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5" y="3593306"/>
            <a:ext cx="5333867" cy="2540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3847941"/>
            <a:ext cx="487667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5292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Automotive net position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8179" y="4320977"/>
            <a:ext cx="48766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moved from ₹16,022 crore net debt in FY24 to ₹1,018 crore net cash in FY25.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48244" y="3822541"/>
            <a:ext cx="53338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7E3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Automotive free cash flow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48244" y="4295577"/>
            <a:ext cx="53338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remained positive at ₹22,348 crore, although below FY24’s ₹26,925 crore.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3870"/>
            <a:ext cx="11074123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100" spc="-15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58786" y="1168003"/>
            <a:ext cx="11074123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1442641"/>
            <a:ext cx="1163290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100" spc="11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WHAT THE ANALYSIS TELLS 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58786" y="1897261"/>
            <a:ext cx="622284" cy="622300"/>
          </a:xfrm>
          <a:prstGeom prst="ellipse">
            <a:avLst/>
          </a:prstGeom>
          <a:noFill/>
          <a:ln w="25399">
            <a:solidFill>
              <a:srgbClr val="4E515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57" y="2065536"/>
            <a:ext cx="285743" cy="285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86" y="2659896"/>
            <a:ext cx="253993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7E3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Revenue growth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58786" y="3132931"/>
            <a:ext cx="253993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Revenue growth was positive but limited to around 1.3%.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03515" y="1897261"/>
            <a:ext cx="622284" cy="622300"/>
          </a:xfrm>
          <a:prstGeom prst="ellipse">
            <a:avLst/>
          </a:prstGeom>
          <a:noFill/>
          <a:ln w="25399">
            <a:solidFill>
              <a:srgbClr val="4E515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786" y="2065536"/>
            <a:ext cx="285743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3515" y="2659896"/>
            <a:ext cx="253993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7E3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Profitability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403515" y="3132931"/>
            <a:ext cx="253993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Profit for the year fell by approximately 11.5%, and underlying EBITDA margin declined.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48244" y="1897261"/>
            <a:ext cx="622284" cy="622300"/>
          </a:xfrm>
          <a:prstGeom prst="ellipse">
            <a:avLst/>
          </a:prstGeom>
          <a:noFill/>
          <a:ln w="25399">
            <a:solidFill>
              <a:srgbClr val="4E5152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6514" y="2065536"/>
            <a:ext cx="285743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48244" y="2659896"/>
            <a:ext cx="253993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7E3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Liquidity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248244" y="3132931"/>
            <a:ext cx="253993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Liquidity ratios were below 1, highlighting the importance of working-capital management.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9092973" y="1897261"/>
            <a:ext cx="622284" cy="622300"/>
          </a:xfrm>
          <a:prstGeom prst="ellipse">
            <a:avLst/>
          </a:prstGeom>
          <a:noFill/>
          <a:ln w="25399">
            <a:solidFill>
              <a:srgbClr val="4E5152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1243" y="2065536"/>
            <a:ext cx="285743" cy="285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92973" y="2659896"/>
            <a:ext cx="253993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7E3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Leverage and cash flow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092973" y="3132931"/>
            <a:ext cx="253993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Leverage improved and automotive free cash flow remained positive.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3870"/>
            <a:ext cx="11074123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100" spc="-15" dirty="0">
                <a:solidFill>
                  <a:srgbClr val="E7E3D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58786" y="1168003"/>
            <a:ext cx="11074123" cy="12601"/>
          </a:xfrm>
          <a:prstGeom prst="roundRect">
            <a:avLst>
              <a:gd name="adj" fmla="val 49998"/>
            </a:avLst>
          </a:prstGeom>
          <a:solidFill>
            <a:srgbClr val="E7E3DA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1442641"/>
            <a:ext cx="1163290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100" spc="110" dirty="0">
                <a:solidFill>
                  <a:srgbClr val="A4A6A2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ACTIONS TO SUPPORT SUSTAINABLE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58786" y="1897261"/>
            <a:ext cx="774681" cy="774700"/>
          </a:xfrm>
          <a:prstGeom prst="ellipse">
            <a:avLst/>
          </a:prstGeom>
          <a:noFill/>
          <a:ln w="44449">
            <a:solidFill>
              <a:srgbClr val="4E51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83" y="2094111"/>
            <a:ext cx="110487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dirty="0">
                <a:solidFill>
                  <a:srgbClr val="A4A6A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11262" y="2214761"/>
            <a:ext cx="101216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Control operating costs and improve manufacturing productivity.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8786" y="2773561"/>
            <a:ext cx="774681" cy="774700"/>
          </a:xfrm>
          <a:prstGeom prst="ellipse">
            <a:avLst/>
          </a:prstGeom>
          <a:noFill/>
          <a:ln w="44449">
            <a:solidFill>
              <a:srgbClr val="4E51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8483" y="2970411"/>
            <a:ext cx="110487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dirty="0">
                <a:solidFill>
                  <a:srgbClr val="A4A6A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11262" y="3091061"/>
            <a:ext cx="101216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Manage inventory, receivables and short-term liabilities carefully.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58786" y="3649861"/>
            <a:ext cx="774681" cy="774700"/>
          </a:xfrm>
          <a:prstGeom prst="ellipse">
            <a:avLst/>
          </a:prstGeom>
          <a:noFill/>
          <a:ln w="44449">
            <a:solidFill>
              <a:srgbClr val="4E51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483" y="3846711"/>
            <a:ext cx="110487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dirty="0">
                <a:solidFill>
                  <a:srgbClr val="A4A6A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11262" y="3967361"/>
            <a:ext cx="101216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Prioritise capital investment that delivers long-term returns.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58786" y="4475361"/>
            <a:ext cx="11074123" cy="901700"/>
          </a:xfrm>
          <a:prstGeom prst="rect">
            <a:avLst/>
          </a:prstGeom>
          <a:solidFill>
            <a:srgbClr val="D5D3CC"/>
          </a:solidFill>
          <a:ln/>
        </p:spPr>
      </p:sp>
      <p:sp>
        <p:nvSpPr>
          <p:cNvPr id="15" name="Shape 13"/>
          <p:cNvSpPr/>
          <p:nvPr/>
        </p:nvSpPr>
        <p:spPr>
          <a:xfrm>
            <a:off x="558786" y="4475361"/>
            <a:ext cx="11074123" cy="25400"/>
          </a:xfrm>
          <a:prstGeom prst="rect">
            <a:avLst/>
          </a:prstGeom>
          <a:solidFill>
            <a:srgbClr val="7D817E"/>
          </a:solidFill>
          <a:ln/>
        </p:spPr>
      </p:sp>
      <p:sp>
        <p:nvSpPr>
          <p:cNvPr id="16" name="Shape 14"/>
          <p:cNvSpPr/>
          <p:nvPr/>
        </p:nvSpPr>
        <p:spPr>
          <a:xfrm>
            <a:off x="558786" y="4551561"/>
            <a:ext cx="774681" cy="774700"/>
          </a:xfrm>
          <a:prstGeom prst="ellipse">
            <a:avLst/>
          </a:prstGeom>
          <a:noFill/>
          <a:ln w="44449">
            <a:solidFill>
              <a:srgbClr val="4E51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483" y="4748411"/>
            <a:ext cx="110487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dirty="0">
                <a:solidFill>
                  <a:srgbClr val="25292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11262" y="4869061"/>
            <a:ext cx="101216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25292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Continue investing in product quality, safety, technology and lower-emission mobility.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58786" y="5427861"/>
            <a:ext cx="774681" cy="774700"/>
          </a:xfrm>
          <a:prstGeom prst="ellipse">
            <a:avLst/>
          </a:prstGeom>
          <a:noFill/>
          <a:ln w="44449">
            <a:solidFill>
              <a:srgbClr val="4E51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483" y="5624711"/>
            <a:ext cx="110487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dirty="0">
                <a:solidFill>
                  <a:srgbClr val="A4A6A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511262" y="5745361"/>
            <a:ext cx="101216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E7E3DA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Use clear, consistent financial metrics when communicating results.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58786" y="2716411"/>
            <a:ext cx="11074123" cy="12700"/>
          </a:xfrm>
          <a:prstGeom prst="rect">
            <a:avLst/>
          </a:prstGeom>
          <a:solidFill>
            <a:srgbClr val="E7E3DA">
              <a:alpha val="2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58786" y="3592711"/>
            <a:ext cx="11074123" cy="12700"/>
          </a:xfrm>
          <a:prstGeom prst="rect">
            <a:avLst/>
          </a:prstGeom>
          <a:solidFill>
            <a:srgbClr val="E7E3DA">
              <a:alpha val="2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58786" y="4469011"/>
            <a:ext cx="11074123" cy="12700"/>
          </a:xfrm>
          <a:prstGeom prst="rect">
            <a:avLst/>
          </a:prstGeom>
          <a:solidFill>
            <a:srgbClr val="E7E3DA">
              <a:alpha val="2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58786" y="5370711"/>
            <a:ext cx="11074123" cy="12700"/>
          </a:xfrm>
          <a:prstGeom prst="rect">
            <a:avLst/>
          </a:prstGeom>
          <a:solidFill>
            <a:srgbClr val="E7E3DA">
              <a:alpha val="2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827571" y="6449814"/>
            <a:ext cx="36412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A4A6A2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10F664-6C84-EEFD-1089-AED5CB22E400}"/>
              </a:ext>
            </a:extLst>
          </p:cNvPr>
          <p:cNvSpPr txBox="1"/>
          <p:nvPr/>
        </p:nvSpPr>
        <p:spPr>
          <a:xfrm>
            <a:off x="-248653" y="2181727"/>
            <a:ext cx="111679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  Thank you </a:t>
            </a:r>
            <a:endParaRPr lang="en-IN" sz="8000" dirty="0">
              <a:solidFill>
                <a:schemeClr val="accent2">
                  <a:lumMod val="20000"/>
                  <a:lumOff val="8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501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659</Words>
  <Application>Microsoft Office PowerPoint</Application>
  <PresentationFormat>Widescreen</PresentationFormat>
  <Paragraphs>163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Host Grotesk Medium</vt:lpstr>
      <vt:lpstr>Host Grotesk Light</vt:lpstr>
      <vt:lpstr>Arial Black</vt:lpstr>
      <vt:lpstr>Host Grotesk Bold</vt:lpstr>
      <vt:lpstr>Host Grotesk</vt:lpstr>
      <vt:lpstr>Host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shivam dubey</cp:lastModifiedBy>
  <cp:revision>2</cp:revision>
  <dcterms:created xsi:type="dcterms:W3CDTF">2026-10-27T19:31:06Z</dcterms:created>
  <dcterms:modified xsi:type="dcterms:W3CDTF">2026-10-27T20:40:55Z</dcterms:modified>
</cp:coreProperties>
</file>